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9" r:id="rId5"/>
    <p:sldId id="261" r:id="rId6"/>
    <p:sldId id="262" r:id="rId7"/>
    <p:sldId id="263" r:id="rId8"/>
    <p:sldId id="265" r:id="rId9"/>
    <p:sldId id="277" r:id="rId10"/>
    <p:sldId id="266" r:id="rId11"/>
    <p:sldId id="264" r:id="rId12"/>
    <p:sldId id="267" r:id="rId13"/>
    <p:sldId id="274" r:id="rId14"/>
    <p:sldId id="268" r:id="rId15"/>
    <p:sldId id="275" r:id="rId16"/>
    <p:sldId id="270" r:id="rId17"/>
    <p:sldId id="276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593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006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67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43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15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425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735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9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644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54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030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4714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08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774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387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194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7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96DE04A-866D-4E1D-A7C9-137B3DAFCBB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3006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266815-D8BC-F321-8768-663DB2744E76}"/>
              </a:ext>
            </a:extLst>
          </p:cNvPr>
          <p:cNvSpPr txBox="1"/>
          <p:nvPr/>
        </p:nvSpPr>
        <p:spPr>
          <a:xfrm>
            <a:off x="1619250" y="1800225"/>
            <a:ext cx="9172575" cy="2862322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66000"/>
                </a:schemeClr>
              </a:gs>
              <a:gs pos="100000">
                <a:srgbClr val="D1E0E7">
                  <a:lumMod val="85000"/>
                  <a:alpha val="0"/>
                </a:srgb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en-US" sz="3600" b="1" dirty="0"/>
          </a:p>
          <a:p>
            <a:r>
              <a:rPr lang="en-US" sz="3600" b="1" dirty="0"/>
              <a:t>       Supply Chain Overview Dashboard</a:t>
            </a:r>
          </a:p>
          <a:p>
            <a:r>
              <a:rPr lang="en-US" sz="2400" b="1" dirty="0"/>
              <a:t>                          </a:t>
            </a:r>
            <a:r>
              <a:rPr lang="en-US" sz="3600" b="1" dirty="0"/>
              <a:t>              </a:t>
            </a:r>
          </a:p>
          <a:p>
            <a:r>
              <a:rPr lang="en-US" sz="3600" b="1" dirty="0"/>
              <a:t>                </a:t>
            </a:r>
            <a:r>
              <a:rPr lang="en-US" sz="2400" b="1" dirty="0"/>
              <a:t>Presented By : Sayali Padle</a:t>
            </a:r>
            <a:r>
              <a:rPr lang="en-US" sz="3600" dirty="0"/>
              <a:t>         </a:t>
            </a:r>
          </a:p>
          <a:p>
            <a:r>
              <a:rPr lang="en-US" sz="3600" b="1" dirty="0"/>
              <a:t>                        </a:t>
            </a:r>
            <a:r>
              <a:rPr lang="en-US" sz="2400" b="1" dirty="0"/>
              <a:t>Date: 1/06/2026                                                        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008799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104775" y="2528208"/>
            <a:ext cx="4254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 Statement :</a:t>
            </a:r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197608" y="109537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Supply chain organizations generate large amounts of data related to sales, customers, products, orders, and deliveries.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 However, identifying business trends, delivery risks, customer behavior, and product performance from raw data is difficult.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The objective of this project is to transform supply chain data into an interactive Power BI dashboard that provides actionable insights for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45268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352425" y="2147208"/>
            <a:ext cx="34956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Who can use this Dashboard?</a:t>
            </a:r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235708" y="176212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Supply Chain Managers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Monitor delivery performance and shipping efficiency.</a:t>
            </a:r>
          </a:p>
          <a:p>
            <a:r>
              <a:rPr lang="en-US" sz="2400" dirty="0"/>
              <a:t> </a:t>
            </a:r>
          </a:p>
          <a:p>
            <a:r>
              <a:rPr lang="en-US" sz="2400" b="1" dirty="0"/>
              <a:t>Sales Managers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Analyze sales trends and market performance. </a:t>
            </a:r>
          </a:p>
          <a:p>
            <a:endParaRPr lang="en-US" sz="2400" dirty="0"/>
          </a:p>
          <a:p>
            <a:r>
              <a:rPr lang="en-US" sz="2400" b="1" dirty="0"/>
              <a:t>Business Analysts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Identify patterns and generate insights.</a:t>
            </a:r>
          </a:p>
          <a:p>
            <a:r>
              <a:rPr lang="en-US" sz="2400" dirty="0"/>
              <a:t> </a:t>
            </a:r>
          </a:p>
          <a:p>
            <a:r>
              <a:rPr lang="en-US" sz="2400" b="1" dirty="0"/>
              <a:t>Operations Team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Track late deliveries and operational bottlenecks. </a:t>
            </a:r>
          </a:p>
          <a:p>
            <a:endParaRPr lang="en-US" sz="2400" dirty="0"/>
          </a:p>
          <a:p>
            <a:r>
              <a:rPr lang="en-US" sz="2400" b="1" dirty="0"/>
              <a:t>Senior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View KPIs and business performance at a glance</a:t>
            </a:r>
          </a:p>
        </p:txBody>
      </p:sp>
    </p:spTree>
    <p:extLst>
      <p:ext uri="{BB962C8B-B14F-4D97-AF65-F5344CB8AC3E}">
        <p14:creationId xmlns:p14="http://schemas.microsoft.com/office/powerpoint/2010/main" val="69132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828286" y="2744367"/>
            <a:ext cx="2269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Objective</a:t>
            </a:r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235708" y="176212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Monitor overall sales and profitability. </a:t>
            </a:r>
          </a:p>
          <a:p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Analyze customer and product performance. </a:t>
            </a:r>
          </a:p>
          <a:p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Track delivery efficiency and late delivery risks. </a:t>
            </a:r>
          </a:p>
          <a:p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Evaluate shipping modes and order status.</a:t>
            </a:r>
          </a:p>
          <a:p>
            <a:r>
              <a:rPr lang="en-US" sz="2400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Identify high-performing markets and categories.</a:t>
            </a:r>
          </a:p>
          <a:p>
            <a:r>
              <a:rPr lang="en-US" sz="2400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Support data-driven business decisions. </a:t>
            </a:r>
          </a:p>
        </p:txBody>
      </p:sp>
    </p:spTree>
    <p:extLst>
      <p:ext uri="{BB962C8B-B14F-4D97-AF65-F5344CB8AC3E}">
        <p14:creationId xmlns:p14="http://schemas.microsoft.com/office/powerpoint/2010/main" val="1038776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304800" y="2547258"/>
            <a:ext cx="3609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Data Overview :</a:t>
            </a:r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235708" y="176212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D9ABA-6507-083E-6AB6-C5BF5B0E7FB1}"/>
              </a:ext>
            </a:extLst>
          </p:cNvPr>
          <p:cNvSpPr txBox="1"/>
          <p:nvPr/>
        </p:nvSpPr>
        <p:spPr>
          <a:xfrm>
            <a:off x="4744810" y="176212"/>
            <a:ext cx="6105524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 b="1" dirty="0"/>
          </a:p>
          <a:p>
            <a:r>
              <a:rPr lang="en-IN" sz="1800" b="1" dirty="0"/>
              <a:t>Data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Kaggle</a:t>
            </a:r>
          </a:p>
          <a:p>
            <a:endParaRPr lang="en-IN" sz="2000" dirty="0"/>
          </a:p>
          <a:p>
            <a:endParaRPr lang="en-IN" sz="1800" dirty="0"/>
          </a:p>
          <a:p>
            <a:r>
              <a:rPr lang="en-IN" sz="1800" b="1" dirty="0"/>
              <a:t>Dataset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    Rows: ~1,80,000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</a:t>
            </a:r>
            <a:r>
              <a:rPr lang="en-IN" sz="1800" dirty="0"/>
              <a:t>Columns: ~53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Time Period : 2015-2018</a:t>
            </a:r>
            <a:endParaRPr lang="en-IN" sz="1800" dirty="0"/>
          </a:p>
          <a:p>
            <a:endParaRPr lang="en-IN" sz="1800" dirty="0"/>
          </a:p>
          <a:p>
            <a:r>
              <a:rPr lang="en-US" b="1" dirty="0"/>
              <a:t>Key Fields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 Date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 Profit Per Order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Category 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Segment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Delivery Status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Shipping Mode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 Region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Type (Payment Type)</a:t>
            </a:r>
          </a:p>
        </p:txBody>
      </p:sp>
    </p:spTree>
    <p:extLst>
      <p:ext uri="{BB962C8B-B14F-4D97-AF65-F5344CB8AC3E}">
        <p14:creationId xmlns:p14="http://schemas.microsoft.com/office/powerpoint/2010/main" val="3400666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104775" y="2528207"/>
            <a:ext cx="40290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Data Transformation.</a:t>
            </a:r>
            <a:endParaRPr lang="en-IN" sz="3200" b="1" dirty="0"/>
          </a:p>
          <a:p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235708" y="176212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A4F9C-E2A4-2246-72C9-876D7DBE5D88}"/>
              </a:ext>
            </a:extLst>
          </p:cNvPr>
          <p:cNvSpPr txBox="1"/>
          <p:nvPr/>
        </p:nvSpPr>
        <p:spPr>
          <a:xfrm>
            <a:off x="4938295" y="1582339"/>
            <a:ext cx="61184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Power Query Steps: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Checked and corrected data types.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Converted Order Date and Shipping Date into Date/Time format.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Removed unnecessary columns.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Checked null values.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custom columns :Delivery Delay, Delivery        Status Group, profit Margin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703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1181100" y="2547257"/>
            <a:ext cx="2257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DAX</a:t>
            </a:r>
            <a:endParaRPr lang="en-IN" sz="3200" b="1" dirty="0"/>
          </a:p>
          <a:p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245233" y="100012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1EE024-E8D5-88AD-1B8D-F16497155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293" y="628426"/>
            <a:ext cx="5983381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 Sales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DataCoSupplyChainDataset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[Sales])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 Profit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DataCoSupplyChainDataset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[Order Profit Per Order])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 Orders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DISTINCTCOUNT(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DataCoSupplyChainDataset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[Order Id])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 Customers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DISTINCTCOUNT(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DataCoSupplyChainDataset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[Customer Id])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Profit Margin %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DIVIDE([Total Profit],[Total Sales],0)*100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Average Order Value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DIVIDE([Total Sales],[Total Orders])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Late Deliveries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CALCULATE(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DISTINCTCOUNT(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DataCoSupplyChainDataset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[Order Id]),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DataCoSupplyChainDataset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Late_delivery_risk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]=1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101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D394D0-3CFB-EBAA-C154-1057A3ED1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1899" y="452438"/>
            <a:ext cx="8296277" cy="59531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9817D2-7DF0-6B54-782D-C9D642819066}"/>
              </a:ext>
            </a:extLst>
          </p:cNvPr>
          <p:cNvSpPr txBox="1"/>
          <p:nvPr/>
        </p:nvSpPr>
        <p:spPr>
          <a:xfrm>
            <a:off x="371474" y="619517"/>
            <a:ext cx="34004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is the Home Page of the dashboard.</a:t>
            </a:r>
          </a:p>
          <a:p>
            <a:r>
              <a:rPr lang="en-US" b="1" dirty="0"/>
              <a:t>It is used only for navigation.</a:t>
            </a:r>
          </a:p>
          <a:p>
            <a:endParaRPr lang="en-US" b="1" dirty="0"/>
          </a:p>
          <a:p>
            <a:r>
              <a:rPr lang="en-US" b="1" dirty="0"/>
              <a:t>Buttons are provided to move to:</a:t>
            </a:r>
          </a:p>
          <a:p>
            <a:endParaRPr lang="en-US" b="1" dirty="0"/>
          </a:p>
          <a:p>
            <a:r>
              <a:rPr lang="en-US" b="1" dirty="0"/>
              <a:t>-Executive Overview</a:t>
            </a:r>
          </a:p>
          <a:p>
            <a:endParaRPr lang="en-US" b="1" dirty="0"/>
          </a:p>
          <a:p>
            <a:r>
              <a:rPr lang="en-US" b="1" dirty="0"/>
              <a:t>-  Supply Chain  Performance </a:t>
            </a:r>
          </a:p>
          <a:p>
            <a:endParaRPr lang="en-US" b="1" dirty="0"/>
          </a:p>
          <a:p>
            <a:r>
              <a:rPr lang="en-US" b="1" dirty="0"/>
              <a:t>- Customer And Product   Insights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This makes the dashboard easy to use. 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173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726547-4281-B8EC-8EBF-5B946129D93D}"/>
              </a:ext>
            </a:extLst>
          </p:cNvPr>
          <p:cNvSpPr/>
          <p:nvPr/>
        </p:nvSpPr>
        <p:spPr>
          <a:xfrm>
            <a:off x="219075" y="1200149"/>
            <a:ext cx="3533774" cy="550545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/>
              <a:t>Page 1: </a:t>
            </a:r>
          </a:p>
          <a:p>
            <a:endParaRPr lang="en-US" b="1" dirty="0"/>
          </a:p>
          <a:p>
            <a:endParaRPr lang="en-US" sz="1800" b="1" dirty="0"/>
          </a:p>
          <a:p>
            <a:r>
              <a:rPr lang="en-US" sz="1800" b="1" dirty="0"/>
              <a:t>Total Sales (36.78M) :</a:t>
            </a:r>
            <a:br>
              <a:rPr lang="en-US" sz="1800" dirty="0"/>
            </a:br>
            <a:r>
              <a:rPr lang="en-US" sz="1800" dirty="0"/>
              <a:t>Total revenue generated from all orders.</a:t>
            </a:r>
          </a:p>
          <a:p>
            <a:endParaRPr lang="en-US" sz="1800" dirty="0"/>
          </a:p>
          <a:p>
            <a:r>
              <a:rPr lang="en-US" sz="1800" b="1" dirty="0"/>
              <a:t>Total Orders (66K) :</a:t>
            </a:r>
            <a:br>
              <a:rPr lang="en-US" sz="1800" dirty="0"/>
            </a:br>
            <a:r>
              <a:rPr lang="en-US" sz="1800" dirty="0"/>
              <a:t>Total number of orders placed by customers.</a:t>
            </a:r>
          </a:p>
          <a:p>
            <a:endParaRPr lang="en-US" sz="1800" dirty="0"/>
          </a:p>
          <a:p>
            <a:r>
              <a:rPr lang="en-US" sz="1800" b="1" dirty="0"/>
              <a:t>Total Profit (3.97M) :</a:t>
            </a:r>
            <a:br>
              <a:rPr lang="en-US" sz="1800" dirty="0"/>
            </a:br>
            <a:r>
              <a:rPr lang="en-US" sz="1800" dirty="0"/>
              <a:t>Total profit earned by the business.</a:t>
            </a:r>
          </a:p>
          <a:p>
            <a:endParaRPr lang="en-US" sz="1800" dirty="0"/>
          </a:p>
          <a:p>
            <a:r>
              <a:rPr lang="en-US" sz="1800" b="1" dirty="0"/>
              <a:t>Profit Margin % (10.78%):</a:t>
            </a:r>
            <a:r>
              <a:rPr lang="en-US" sz="1800" dirty="0"/>
              <a:t> Percentage of profit earned from sales.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56CC01-47E3-D5EA-4AF5-AE2FB2449EAC}"/>
              </a:ext>
            </a:extLst>
          </p:cNvPr>
          <p:cNvSpPr/>
          <p:nvPr/>
        </p:nvSpPr>
        <p:spPr>
          <a:xfrm>
            <a:off x="4198140" y="1624011"/>
            <a:ext cx="3533774" cy="427672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/>
              <a:t>Page 2:</a:t>
            </a:r>
          </a:p>
          <a:p>
            <a:endParaRPr lang="en-US" b="1" dirty="0"/>
          </a:p>
          <a:p>
            <a:endParaRPr lang="en-US" sz="1800" b="1" dirty="0"/>
          </a:p>
          <a:p>
            <a:r>
              <a:rPr lang="en-US" sz="1800" b="1" dirty="0"/>
              <a:t>Late Delivery % (19.97%)/;</a:t>
            </a:r>
            <a:br>
              <a:rPr lang="en-US" sz="1800" dirty="0"/>
            </a:br>
            <a:r>
              <a:rPr lang="en-US" sz="1800" dirty="0"/>
              <a:t>Percentage of orders at risk of delay.</a:t>
            </a:r>
          </a:p>
          <a:p>
            <a:endParaRPr lang="en-US" sz="1800" dirty="0"/>
          </a:p>
          <a:p>
            <a:r>
              <a:rPr lang="en-US" sz="1800" b="1" dirty="0"/>
              <a:t>Late Deliveries (36K)</a:t>
            </a:r>
            <a:br>
              <a:rPr lang="en-US" sz="1800" dirty="0"/>
            </a:br>
            <a:r>
              <a:rPr lang="en-US" sz="1800" dirty="0"/>
              <a:t> Total delayed orders.</a:t>
            </a:r>
          </a:p>
          <a:p>
            <a:endParaRPr lang="en-US" sz="1800" dirty="0"/>
          </a:p>
          <a:p>
            <a:r>
              <a:rPr lang="en-US" sz="1800" b="1" dirty="0"/>
              <a:t>Average Shipping Days (3.50):</a:t>
            </a:r>
            <a:br>
              <a:rPr lang="en-US" sz="1800" dirty="0"/>
            </a:br>
            <a:r>
              <a:rPr lang="en-US" sz="1800" dirty="0"/>
              <a:t> Average time taken to deliver orders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8CB8D5-F501-7827-8661-F84A062009E9}"/>
              </a:ext>
            </a:extLst>
          </p:cNvPr>
          <p:cNvSpPr/>
          <p:nvPr/>
        </p:nvSpPr>
        <p:spPr>
          <a:xfrm>
            <a:off x="8339136" y="1278642"/>
            <a:ext cx="3633789" cy="481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Page 3:</a:t>
            </a:r>
          </a:p>
          <a:p>
            <a:endParaRPr lang="en-US" sz="1800" b="1" dirty="0"/>
          </a:p>
          <a:p>
            <a:r>
              <a:rPr lang="en-US" sz="1800" b="1" dirty="0"/>
              <a:t>Total Products (118):</a:t>
            </a:r>
            <a:br>
              <a:rPr lang="en-US" sz="1800" dirty="0"/>
            </a:br>
            <a:r>
              <a:rPr lang="en-US" sz="1800" dirty="0"/>
              <a:t> Total unique products sold.</a:t>
            </a:r>
          </a:p>
          <a:p>
            <a:endParaRPr lang="en-US" sz="1800" dirty="0"/>
          </a:p>
          <a:p>
            <a:r>
              <a:rPr lang="en-US" sz="1800" b="1" dirty="0"/>
              <a:t>Total Quantity Sold (384K):</a:t>
            </a:r>
            <a:br>
              <a:rPr lang="en-US" sz="1800" dirty="0"/>
            </a:br>
            <a:r>
              <a:rPr lang="en-US" sz="1800" dirty="0"/>
              <a:t> Total units/products sold.</a:t>
            </a:r>
          </a:p>
          <a:p>
            <a:endParaRPr lang="en-US" sz="1800" dirty="0"/>
          </a:p>
          <a:p>
            <a:r>
              <a:rPr lang="en-US" sz="1800" b="1" dirty="0"/>
              <a:t>Total Customers (21K):</a:t>
            </a:r>
            <a:br>
              <a:rPr lang="en-US" sz="1800" dirty="0"/>
            </a:br>
            <a:r>
              <a:rPr lang="en-US" sz="1800" dirty="0"/>
              <a:t>Total unique customers.</a:t>
            </a:r>
          </a:p>
          <a:p>
            <a:endParaRPr lang="en-US" sz="1800" dirty="0"/>
          </a:p>
          <a:p>
            <a:r>
              <a:rPr lang="en-US" sz="1800" b="1" dirty="0"/>
              <a:t>Average Order Value (559.45):</a:t>
            </a:r>
          </a:p>
          <a:p>
            <a:r>
              <a:rPr lang="en-US" sz="1800" dirty="0"/>
              <a:t>Average amount spent per order.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447B1-D547-0C87-18EE-E0CF33447253}"/>
              </a:ext>
            </a:extLst>
          </p:cNvPr>
          <p:cNvSpPr txBox="1"/>
          <p:nvPr/>
        </p:nvSpPr>
        <p:spPr>
          <a:xfrm>
            <a:off x="4481513" y="676929"/>
            <a:ext cx="2752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measures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1533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D394D0-3CFB-EBAA-C154-1057A3ED1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7275" y="266021"/>
            <a:ext cx="10172700" cy="6368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109E31E-62AF-DA75-5F5F-06787B156C3D}"/>
              </a:ext>
            </a:extLst>
          </p:cNvPr>
          <p:cNvSpPr/>
          <p:nvPr/>
        </p:nvSpPr>
        <p:spPr>
          <a:xfrm>
            <a:off x="1057275" y="244900"/>
            <a:ext cx="10172700" cy="63682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700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C6DA0D-DB7A-830F-9BB6-A1666CAEA72B}"/>
              </a:ext>
            </a:extLst>
          </p:cNvPr>
          <p:cNvSpPr/>
          <p:nvPr/>
        </p:nvSpPr>
        <p:spPr>
          <a:xfrm>
            <a:off x="2867025" y="114301"/>
            <a:ext cx="5848349" cy="476250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Executive Overview Dashboard Explanation</a:t>
            </a:r>
            <a:endParaRPr lang="en-IN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6FBB9-D2B0-6C26-7FCC-54B5EFD675E6}"/>
              </a:ext>
            </a:extLst>
          </p:cNvPr>
          <p:cNvSpPr txBox="1"/>
          <p:nvPr/>
        </p:nvSpPr>
        <p:spPr>
          <a:xfrm>
            <a:off x="180975" y="799102"/>
            <a:ext cx="280987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Sales by Market</a:t>
            </a:r>
          </a:p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(Bar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Europe</a:t>
            </a:r>
            <a:r>
              <a:rPr lang="en-US" dirty="0"/>
              <a:t> generated the highest sales of </a:t>
            </a:r>
            <a:r>
              <a:rPr lang="en-US" b="1" dirty="0"/>
              <a:t>10.9M</a:t>
            </a:r>
            <a:r>
              <a:rPr lang="en-US" dirty="0"/>
              <a:t>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LATAM</a:t>
            </a:r>
            <a:r>
              <a:rPr lang="en-US" dirty="0"/>
              <a:t> followed closely with </a:t>
            </a:r>
            <a:r>
              <a:rPr lang="en-US" b="1" dirty="0"/>
              <a:t>10.3M</a:t>
            </a:r>
            <a:r>
              <a:rPr lang="en-US" dirty="0"/>
              <a:t> sales.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Africa</a:t>
            </a:r>
            <a:r>
              <a:rPr lang="en-US" dirty="0"/>
              <a:t> recorded the lowest sales at </a:t>
            </a:r>
            <a:r>
              <a:rPr lang="en-US" b="1" dirty="0"/>
              <a:t>2.3M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Europe and LATAM together contributed more than </a:t>
            </a:r>
            <a:r>
              <a:rPr lang="en-US" b="1" dirty="0"/>
              <a:t>57%</a:t>
            </a:r>
            <a:r>
              <a:rPr lang="en-US" dirty="0"/>
              <a:t> of total sales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C934B-3E59-D1ED-7001-8EF1CD0494F5}"/>
              </a:ext>
            </a:extLst>
          </p:cNvPr>
          <p:cNvSpPr txBox="1"/>
          <p:nvPr/>
        </p:nvSpPr>
        <p:spPr>
          <a:xfrm>
            <a:off x="3124199" y="790574"/>
            <a:ext cx="2667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2. Monthly Sales Trend</a:t>
            </a:r>
          </a:p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   (Line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peaked at approximately </a:t>
            </a:r>
            <a:r>
              <a:rPr lang="en-US" b="1" dirty="0"/>
              <a:t>3.5M</a:t>
            </a:r>
            <a:r>
              <a:rPr lang="en-US" dirty="0"/>
              <a:t> in January.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remained relatively stable between </a:t>
            </a:r>
            <a:r>
              <a:rPr lang="en-US" b="1" dirty="0"/>
              <a:t>3.0M–3.2M</a:t>
            </a:r>
            <a:r>
              <a:rPr lang="en-US" dirty="0"/>
              <a:t> during most months.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significant decline was observed in </a:t>
            </a:r>
            <a:r>
              <a:rPr lang="en-US" b="1" dirty="0"/>
              <a:t>November and December</a:t>
            </a:r>
            <a:r>
              <a:rPr lang="en-US" dirty="0"/>
              <a:t>, dropping to nearly </a:t>
            </a:r>
            <a:r>
              <a:rPr lang="en-US" b="1" dirty="0"/>
              <a:t>2.6M</a:t>
            </a:r>
            <a:r>
              <a:rPr lang="en-US" dirty="0"/>
              <a:t>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performance shows seasonal fluctuations throughout the year.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01EFC1-66D2-D99E-15A5-35AF0199BE74}"/>
              </a:ext>
            </a:extLst>
          </p:cNvPr>
          <p:cNvSpPr txBox="1"/>
          <p:nvPr/>
        </p:nvSpPr>
        <p:spPr>
          <a:xfrm>
            <a:off x="6200776" y="808626"/>
            <a:ext cx="298132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Sales Distribution by Category (Tree map)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Fishing</a:t>
            </a:r>
            <a:r>
              <a:rPr lang="en-US" dirty="0"/>
              <a:t> category generated the highest sales among all categories.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Drill-down functionality allows analysis from </a:t>
            </a:r>
            <a:r>
              <a:rPr lang="en-US" b="1" dirty="0"/>
              <a:t>Category → Department → Product</a:t>
            </a:r>
            <a:r>
              <a:rPr lang="en-US" dirty="0"/>
              <a:t> level.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hierarchy helps identify top-performing products within each department. 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4D0F4-1805-10A7-175A-B4FCD05424C3}"/>
              </a:ext>
            </a:extLst>
          </p:cNvPr>
          <p:cNvSpPr txBox="1"/>
          <p:nvPr/>
        </p:nvSpPr>
        <p:spPr>
          <a:xfrm>
            <a:off x="9305924" y="808626"/>
            <a:ext cx="288607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4. Order Status Distribution(Donut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Complete Orders: </a:t>
            </a:r>
            <a:r>
              <a:rPr lang="en-US" b="1" dirty="0"/>
              <a:t>37.08%</a:t>
            </a:r>
            <a:r>
              <a:rPr lang="en-US" dirty="0"/>
              <a:t> (largest share)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Pending Payment: 24.56%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Processing: 13.49%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Pending: 12.50%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Closed: 12.38%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Business 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orders are successfully completed.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Nearly one-fourth of orders are awaiting payment, indicating potential revenue realization opportunities.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A1586-FB24-D47D-FB73-842C7ACD1E09}"/>
              </a:ext>
            </a:extLst>
          </p:cNvPr>
          <p:cNvSpPr/>
          <p:nvPr/>
        </p:nvSpPr>
        <p:spPr>
          <a:xfrm>
            <a:off x="111924" y="826678"/>
            <a:ext cx="2676525" cy="561425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5705B9-D38B-60B4-AA97-35C4969F3517}"/>
              </a:ext>
            </a:extLst>
          </p:cNvPr>
          <p:cNvSpPr/>
          <p:nvPr/>
        </p:nvSpPr>
        <p:spPr>
          <a:xfrm>
            <a:off x="3009899" y="799102"/>
            <a:ext cx="2809875" cy="5909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3F84BB-553B-632D-45AB-A3D724E6D410}"/>
              </a:ext>
            </a:extLst>
          </p:cNvPr>
          <p:cNvSpPr/>
          <p:nvPr/>
        </p:nvSpPr>
        <p:spPr>
          <a:xfrm>
            <a:off x="6057900" y="838260"/>
            <a:ext cx="3105148" cy="560267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368478-0F14-563B-AC4D-2F9D07AF71EC}"/>
              </a:ext>
            </a:extLst>
          </p:cNvPr>
          <p:cNvSpPr/>
          <p:nvPr/>
        </p:nvSpPr>
        <p:spPr>
          <a:xfrm>
            <a:off x="9305924" y="838260"/>
            <a:ext cx="2809875" cy="572375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05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D394D0-3CFB-EBAA-C154-1057A3ED1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714" y="293204"/>
            <a:ext cx="10048461" cy="62715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C286346-E79C-DD5D-03EF-AFB91161E984}"/>
              </a:ext>
            </a:extLst>
          </p:cNvPr>
          <p:cNvSpPr/>
          <p:nvPr/>
        </p:nvSpPr>
        <p:spPr>
          <a:xfrm>
            <a:off x="876714" y="293204"/>
            <a:ext cx="10048461" cy="627159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239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C6DA0D-DB7A-830F-9BB6-A1666CAEA72B}"/>
              </a:ext>
            </a:extLst>
          </p:cNvPr>
          <p:cNvSpPr/>
          <p:nvPr/>
        </p:nvSpPr>
        <p:spPr>
          <a:xfrm>
            <a:off x="2276475" y="149304"/>
            <a:ext cx="6696075" cy="476250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Supply Chain Performance Dashboard Explanation</a:t>
            </a:r>
            <a:endParaRPr lang="en-IN" sz="2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DDAFE9-022A-0E2A-EDD0-F1CB3BCA23F5}"/>
              </a:ext>
            </a:extLst>
          </p:cNvPr>
          <p:cNvSpPr/>
          <p:nvPr/>
        </p:nvSpPr>
        <p:spPr>
          <a:xfrm>
            <a:off x="133349" y="828674"/>
            <a:ext cx="2981325" cy="55989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1. Orders by Shipping Mode(Column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Standard Class</a:t>
            </a:r>
            <a:r>
              <a:rPr lang="en-US" dirty="0"/>
              <a:t> handled </a:t>
            </a:r>
            <a:r>
              <a:rPr lang="en-US" b="1" dirty="0"/>
              <a:t>39K orders</a:t>
            </a:r>
            <a:r>
              <a:rPr lang="en-US" dirty="0"/>
              <a:t>, making it the most preferred shipping method.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Second Class</a:t>
            </a:r>
            <a:r>
              <a:rPr lang="en-US" dirty="0"/>
              <a:t> processed </a:t>
            </a:r>
            <a:r>
              <a:rPr lang="en-US" b="1" dirty="0"/>
              <a:t>13K orders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First Class</a:t>
            </a:r>
            <a:r>
              <a:rPr lang="en-US" dirty="0"/>
              <a:t> accounted for </a:t>
            </a:r>
            <a:r>
              <a:rPr lang="en-US" b="1" dirty="0"/>
              <a:t>10K orders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Same Day</a:t>
            </a:r>
            <a:r>
              <a:rPr lang="en-US" dirty="0"/>
              <a:t> delivery was least used with only </a:t>
            </a:r>
            <a:r>
              <a:rPr lang="en-US" b="1" dirty="0"/>
              <a:t>4K orders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Customers strongly prefer cost-effective shipping options.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FA293-0EE2-D36F-A008-E9807B7DE9B3}"/>
              </a:ext>
            </a:extLst>
          </p:cNvPr>
          <p:cNvSpPr/>
          <p:nvPr/>
        </p:nvSpPr>
        <p:spPr>
          <a:xfrm>
            <a:off x="3328987" y="828675"/>
            <a:ext cx="2552700" cy="55989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2. Delivery Status Analysis(Donut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Late Deliveries: 36K orders (54.82%)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On-Time Deliveries: 30K orders (45.18%)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than half of all deliveries were delayed.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Delivery performance requires operational improvement.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63D2A-6C8B-69C0-A744-4EF5270B10FB}"/>
              </a:ext>
            </a:extLst>
          </p:cNvPr>
          <p:cNvSpPr/>
          <p:nvPr/>
        </p:nvSpPr>
        <p:spPr>
          <a:xfrm>
            <a:off x="9182101" y="828674"/>
            <a:ext cx="2771776" cy="551497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4. Geographic Sales Distribution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are distributed globally across North America, Europe, Asia, Africa, and South America.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Europe and North America show strong sales concentration.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has a broad international customer base.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5CF34-D9DB-6CCB-88FB-B09778882EBE}"/>
              </a:ext>
            </a:extLst>
          </p:cNvPr>
          <p:cNvSpPr/>
          <p:nvPr/>
        </p:nvSpPr>
        <p:spPr>
          <a:xfrm>
            <a:off x="6096000" y="828674"/>
            <a:ext cx="2876550" cy="55989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3.Late Deliveries by Region(Bar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Western Europe</a:t>
            </a:r>
            <a:r>
              <a:rPr lang="en-US" dirty="0"/>
              <a:t> recorded the highest late deliveries (</a:t>
            </a:r>
            <a:r>
              <a:rPr lang="en-US" b="1" dirty="0"/>
              <a:t>5.6K</a:t>
            </a:r>
            <a:r>
              <a:rPr lang="en-US" dirty="0"/>
              <a:t>).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Central America</a:t>
            </a:r>
            <a:r>
              <a:rPr lang="en-US" dirty="0"/>
              <a:t> followed with </a:t>
            </a:r>
            <a:r>
              <a:rPr lang="en-US" b="1" dirty="0"/>
              <a:t>5.2K</a:t>
            </a:r>
            <a:r>
              <a:rPr lang="en-US" dirty="0"/>
              <a:t> late deliveries.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South America</a:t>
            </a:r>
            <a:r>
              <a:rPr lang="en-US" dirty="0"/>
              <a:t> reported </a:t>
            </a:r>
            <a:r>
              <a:rPr lang="en-US" b="1" dirty="0"/>
              <a:t>2.7K</a:t>
            </a:r>
            <a:r>
              <a:rPr lang="en-US" dirty="0"/>
              <a:t> delayed orders.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Delivery delays are concentrated in specific regions</a:t>
            </a:r>
          </a:p>
        </p:txBody>
      </p:sp>
    </p:spTree>
    <p:extLst>
      <p:ext uri="{BB962C8B-B14F-4D97-AF65-F5344CB8AC3E}">
        <p14:creationId xmlns:p14="http://schemas.microsoft.com/office/powerpoint/2010/main" val="448685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D394D0-3CFB-EBAA-C154-1057A3ED1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0100" y="530501"/>
            <a:ext cx="10286999" cy="5943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7D90D5-69DD-F914-FCCE-03E78AA09352}"/>
              </a:ext>
            </a:extLst>
          </p:cNvPr>
          <p:cNvSpPr/>
          <p:nvPr/>
        </p:nvSpPr>
        <p:spPr>
          <a:xfrm>
            <a:off x="800100" y="530501"/>
            <a:ext cx="10286999" cy="59436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730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C6DA0D-DB7A-830F-9BB6-A1666CAEA72B}"/>
              </a:ext>
            </a:extLst>
          </p:cNvPr>
          <p:cNvSpPr/>
          <p:nvPr/>
        </p:nvSpPr>
        <p:spPr>
          <a:xfrm>
            <a:off x="2276475" y="149304"/>
            <a:ext cx="6696075" cy="476250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Supply Chain Performance Dashboard Explanation</a:t>
            </a:r>
            <a:endParaRPr lang="en-IN" sz="2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DDAFE9-022A-0E2A-EDD0-F1CB3BCA23F5}"/>
              </a:ext>
            </a:extLst>
          </p:cNvPr>
          <p:cNvSpPr/>
          <p:nvPr/>
        </p:nvSpPr>
        <p:spPr>
          <a:xfrm>
            <a:off x="66675" y="723899"/>
            <a:ext cx="2800354" cy="592379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Customer Distribution by Market(Pie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Pacific Asia</a:t>
            </a:r>
            <a:r>
              <a:rPr lang="en-US" dirty="0"/>
              <a:t> holds the largest customer base (</a:t>
            </a:r>
            <a:r>
              <a:rPr lang="en-US" b="1" dirty="0"/>
              <a:t>30.28%</a:t>
            </a:r>
            <a:r>
              <a:rPr lang="en-US" dirty="0"/>
              <a:t>).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Europe</a:t>
            </a:r>
            <a:r>
              <a:rPr lang="en-US" dirty="0"/>
              <a:t> contributes </a:t>
            </a:r>
            <a:r>
              <a:rPr lang="en-US" b="1" dirty="0"/>
              <a:t>26.6%</a:t>
            </a:r>
            <a:r>
              <a:rPr lang="en-US" dirty="0"/>
              <a:t> of customers.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LATAM</a:t>
            </a:r>
            <a:r>
              <a:rPr lang="en-US" dirty="0"/>
              <a:t> accounts for </a:t>
            </a:r>
            <a:r>
              <a:rPr lang="en-US" b="1" dirty="0"/>
              <a:t>21.28%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Africa</a:t>
            </a:r>
            <a:r>
              <a:rPr lang="en-US" dirty="0"/>
              <a:t> has the smallest customer share (</a:t>
            </a:r>
            <a:r>
              <a:rPr lang="en-US" b="1" dirty="0"/>
              <a:t>7.56%</a:t>
            </a:r>
            <a:r>
              <a:rPr lang="en-US" dirty="0"/>
              <a:t>).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Nearly one-third of customers are located in Pacific Asia.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FA293-0EE2-D36F-A008-E9807B7DE9B3}"/>
              </a:ext>
            </a:extLst>
          </p:cNvPr>
          <p:cNvSpPr/>
          <p:nvPr/>
        </p:nvSpPr>
        <p:spPr>
          <a:xfrm>
            <a:off x="3028951" y="828674"/>
            <a:ext cx="2590800" cy="539115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2. Sales by Customer Segment(Column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Consumer Segment:</a:t>
            </a:r>
            <a:r>
              <a:rPr lang="en-US" dirty="0"/>
              <a:t> </a:t>
            </a:r>
            <a:r>
              <a:rPr lang="en-US" b="1" dirty="0"/>
              <a:t>19.1M</a:t>
            </a:r>
            <a:r>
              <a:rPr lang="en-US" dirty="0"/>
              <a:t> sales (highest)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Corporate Segment:</a:t>
            </a:r>
            <a:r>
              <a:rPr lang="en-US" dirty="0"/>
              <a:t> </a:t>
            </a:r>
            <a:r>
              <a:rPr lang="en-US" b="1" dirty="0"/>
              <a:t>11.2M</a:t>
            </a:r>
            <a:r>
              <a:rPr lang="en-US" dirty="0"/>
              <a:t> sales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Home Office Segment:</a:t>
            </a:r>
            <a:r>
              <a:rPr lang="en-US" dirty="0"/>
              <a:t> </a:t>
            </a:r>
            <a:r>
              <a:rPr lang="en-US" b="1" dirty="0"/>
              <a:t>6.5M</a:t>
            </a:r>
            <a:r>
              <a:rPr lang="en-US" dirty="0"/>
              <a:t> sales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Consumer customers generate more than half of total revenue.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Home Office contributes the lowest revenue.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63D2A-6C8B-69C0-A744-4EF5270B10FB}"/>
              </a:ext>
            </a:extLst>
          </p:cNvPr>
          <p:cNvSpPr/>
          <p:nvPr/>
        </p:nvSpPr>
        <p:spPr>
          <a:xfrm>
            <a:off x="5724523" y="3429001"/>
            <a:ext cx="6238883" cy="16383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4. Top 10 Products by Sales(Bar chart)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Field &amp; Stream Sportsman 16 Gun Fire Safe</a:t>
            </a:r>
            <a:r>
              <a:rPr lang="en-US" dirty="0"/>
              <a:t> generated the highest sales of </a:t>
            </a:r>
            <a:r>
              <a:rPr lang="en-US" b="1" dirty="0"/>
              <a:t>6.9M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Perfect Fitness Perfect Rip Deck</a:t>
            </a:r>
            <a:r>
              <a:rPr lang="en-US" dirty="0"/>
              <a:t> recorded </a:t>
            </a:r>
            <a:r>
              <a:rPr lang="en-US" b="1" dirty="0"/>
              <a:t>4.4M</a:t>
            </a:r>
            <a:r>
              <a:rPr lang="en-US" dirty="0"/>
              <a:t> sales.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5CF34-D9DB-6CCB-88FB-B09778882EBE}"/>
              </a:ext>
            </a:extLst>
          </p:cNvPr>
          <p:cNvSpPr/>
          <p:nvPr/>
        </p:nvSpPr>
        <p:spPr>
          <a:xfrm>
            <a:off x="5724523" y="828674"/>
            <a:ext cx="6296033" cy="247650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3. Customer Distribution by Payment Type(Donut chart)</a:t>
            </a:r>
          </a:p>
          <a:p>
            <a:endParaRPr lang="en-US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Debit:</a:t>
            </a:r>
            <a:r>
              <a:rPr lang="en-US" dirty="0"/>
              <a:t> </a:t>
            </a:r>
            <a:r>
              <a:rPr lang="en-US" b="1" dirty="0"/>
              <a:t>33.31%</a:t>
            </a:r>
            <a:r>
              <a:rPr lang="en-US" dirty="0"/>
              <a:t> (most preferred)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Transfer:</a:t>
            </a:r>
            <a:r>
              <a:rPr lang="en-US" dirty="0"/>
              <a:t> </a:t>
            </a:r>
            <a:r>
              <a:rPr lang="en-US" b="1" dirty="0"/>
              <a:t>27.53%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Payment:</a:t>
            </a:r>
            <a:r>
              <a:rPr lang="en-US" dirty="0"/>
              <a:t> </a:t>
            </a:r>
            <a:r>
              <a:rPr lang="en-US" b="1" dirty="0"/>
              <a:t>24.67%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Cash:</a:t>
            </a:r>
            <a:r>
              <a:rPr lang="en-US" dirty="0"/>
              <a:t> </a:t>
            </a:r>
            <a:r>
              <a:rPr lang="en-US" b="1" dirty="0"/>
              <a:t>14.49%</a:t>
            </a:r>
            <a:r>
              <a:rPr lang="en-US" dirty="0"/>
              <a:t> (least preferred)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Customers prefer digital payment methods over cash transactions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8FCE37-4C5B-F705-9836-D3EA7B5BFADC}"/>
              </a:ext>
            </a:extLst>
          </p:cNvPr>
          <p:cNvSpPr/>
          <p:nvPr/>
        </p:nvSpPr>
        <p:spPr>
          <a:xfrm>
            <a:off x="5781673" y="5191127"/>
            <a:ext cx="6238883" cy="145657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0BD5E846-0F00-51F4-A3CF-540EDD07495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72189" y="5196098"/>
            <a:ext cx="54292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5. Category Performance Summary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2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the highest sales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6.93M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profit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756K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4.43M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495K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profit. </a:t>
            </a:r>
          </a:p>
        </p:txBody>
      </p:sp>
    </p:spTree>
    <p:extLst>
      <p:ext uri="{BB962C8B-B14F-4D97-AF65-F5344CB8AC3E}">
        <p14:creationId xmlns:p14="http://schemas.microsoft.com/office/powerpoint/2010/main" val="122219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F57C811-A963-A5FA-D436-21A87AEDD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15376"/>
            <a:ext cx="9020176" cy="6678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Overall Dashboard Insights</a:t>
            </a:r>
          </a:p>
          <a:p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Sales reached </a:t>
            </a:r>
            <a:r>
              <a:rPr lang="en-US" sz="2000" b="1" dirty="0"/>
              <a:t>36.78M</a:t>
            </a:r>
            <a:r>
              <a:rPr lang="en-US" sz="2000" dirty="0"/>
              <a:t> with </a:t>
            </a:r>
            <a:r>
              <a:rPr lang="en-US" sz="2000" b="1" dirty="0"/>
              <a:t>3.97M Profit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Europe emerged as the top-performing sales market.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Consumer customers contributed the highest revenue.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Standard Class was the preferred shipping method.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More than </a:t>
            </a:r>
            <a:r>
              <a:rPr lang="en-US" sz="2000" b="1" dirty="0"/>
              <a:t>54% of deliveries were delayed</a:t>
            </a:r>
            <a:r>
              <a:rPr lang="en-US" sz="2000" dirty="0"/>
              <a:t>, highlighting supply chain challenges.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Debit cards were the most preferred payment method.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Fishing category and Field &amp; Stream Sportsman 16 Gun Fire Safe were the top performers.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business maintains a strong global presence across multiple markets.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4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146975" y="2528208"/>
            <a:ext cx="36630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Future Enhancement:</a:t>
            </a:r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251014" y="76200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F57C811-A963-A5FA-D436-21A87AEDD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3926" y="804659"/>
            <a:ext cx="653255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future sales trends.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predictive analytics for late deliveries.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real-time supply chain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customer churn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inventory management KPIs.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automated alerts for delivery risks. </a:t>
            </a:r>
          </a:p>
        </p:txBody>
      </p:sp>
    </p:spTree>
    <p:extLst>
      <p:ext uri="{BB962C8B-B14F-4D97-AF65-F5344CB8AC3E}">
        <p14:creationId xmlns:p14="http://schemas.microsoft.com/office/powerpoint/2010/main" val="3657244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131670" y="2528208"/>
            <a:ext cx="31354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Conclusion:</a:t>
            </a:r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3086100" y="176212"/>
            <a:ext cx="8762615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The Supply Chain Performance Dashboard transforms raw operational data into meaningful business insights. </a:t>
            </a:r>
          </a:p>
          <a:p>
            <a:endParaRPr lang="en-US" sz="2400" b="1" dirty="0"/>
          </a:p>
          <a:p>
            <a:r>
              <a:rPr lang="en-US" sz="2400" b="1" dirty="0"/>
              <a:t>The dashboard enables organizations to monitor sales, profitability, customer behavior, shipping performance, and delivery efficiency through interactive visualizations and KPIs.</a:t>
            </a:r>
          </a:p>
          <a:p>
            <a:endParaRPr lang="en-US" sz="2400" b="1" dirty="0"/>
          </a:p>
          <a:p>
            <a:r>
              <a:rPr lang="en-US" sz="2400" b="1" dirty="0"/>
              <a:t> It supports data-driven decision-making and helps improve overall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306700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3246345" y="2356758"/>
            <a:ext cx="70025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Thank You</a:t>
            </a:r>
            <a:endParaRPr lang="en-IN" sz="8000" b="1" dirty="0"/>
          </a:p>
        </p:txBody>
      </p:sp>
    </p:spTree>
    <p:extLst>
      <p:ext uri="{BB962C8B-B14F-4D97-AF65-F5344CB8AC3E}">
        <p14:creationId xmlns:p14="http://schemas.microsoft.com/office/powerpoint/2010/main" val="16034632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348</TotalTime>
  <Words>1353</Words>
  <Application>Microsoft Office PowerPoint</Application>
  <PresentationFormat>Widescreen</PresentationFormat>
  <Paragraphs>274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Unicode MS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padle</dc:creator>
  <cp:lastModifiedBy>sayali padle</cp:lastModifiedBy>
  <cp:revision>5</cp:revision>
  <dcterms:created xsi:type="dcterms:W3CDTF">2026-06-07T15:39:32Z</dcterms:created>
  <dcterms:modified xsi:type="dcterms:W3CDTF">2026-06-14T11:42:31Z</dcterms:modified>
</cp:coreProperties>
</file>